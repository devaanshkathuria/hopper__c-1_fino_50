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4315241dde4166" /><Relationship Type="http://schemas.openxmlformats.org/officeDocument/2006/relationships/extended-properties" Target="/docProps/app.xml" Id="R57de0984f2c54530" /><Relationship Type="http://schemas.openxmlformats.org/officeDocument/2006/relationships/officeDocument" Target="/ppt/presentation.xml" Id="R7dc5ca4e80964b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85e88611cc430c"/>
  </p:sldMasterIdLst>
  <p:notesMasterIdLst>
    <p:notesMasterId xmlns:r="http://schemas.openxmlformats.org/officeDocument/2006/relationships" r:id="Rb11e626dc2a1475a"/>
  </p:notesMasterIdLst>
  <p:sldIdLst>
    <p:sldId xmlns:r="http://schemas.openxmlformats.org/officeDocument/2006/relationships" id="256" r:id="R671f56b98f974209"/>
    <p:sldId xmlns:r="http://schemas.openxmlformats.org/officeDocument/2006/relationships" id="257" r:id="Rda767b1f3d914014"/>
    <p:sldId xmlns:r="http://schemas.openxmlformats.org/officeDocument/2006/relationships" id="258" r:id="R20c702b17c5f431f"/>
    <p:sldId xmlns:r="http://schemas.openxmlformats.org/officeDocument/2006/relationships" id="259" r:id="R762864248cd0476a"/>
    <p:sldId xmlns:r="http://schemas.openxmlformats.org/officeDocument/2006/relationships" id="260" r:id="R3a2ff5ac5dd941ce"/>
    <p:sldId xmlns:r="http://schemas.openxmlformats.org/officeDocument/2006/relationships" id="261" r:id="R78a65b149e6843b2"/>
    <p:sldId xmlns:r="http://schemas.openxmlformats.org/officeDocument/2006/relationships" id="262" r:id="Rb8e158c135d04f84"/>
    <p:sldId xmlns:r="http://schemas.openxmlformats.org/officeDocument/2006/relationships" id="263" r:id="R67f4cb8ea5564ae9"/>
    <p:sldId xmlns:r="http://schemas.openxmlformats.org/officeDocument/2006/relationships" id="264" r:id="R622c3f3eba544c51"/>
    <p:sldId xmlns:r="http://schemas.openxmlformats.org/officeDocument/2006/relationships" id="265" r:id="R6c5ac98009c04412"/>
    <p:sldId xmlns:r="http://schemas.openxmlformats.org/officeDocument/2006/relationships" id="266" r:id="Rb5cf5e1c356c4ff2"/>
    <p:sldId xmlns:r="http://schemas.openxmlformats.org/officeDocument/2006/relationships" id="267" r:id="R583369ccfb364899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85e88611cc430c" /><Relationship Type="http://schemas.openxmlformats.org/officeDocument/2006/relationships/theme" Target="/ppt/theme/theme1.xml" Id="Raf441a23f17e4e96" /><Relationship Type="http://schemas.openxmlformats.org/officeDocument/2006/relationships/notesMaster" Target="/ppt/notesMasters/notesMaster1.xml" Id="Rb11e626dc2a1475a" /><Relationship Type="http://schemas.openxmlformats.org/officeDocument/2006/relationships/presProps" Target="/ppt/presProps.xml" Id="R1a756ab8ecde4066" /><Relationship Type="http://schemas.openxmlformats.org/officeDocument/2006/relationships/viewProps" Target="/ppt/viewProps.xml" Id="R3ffb0572488043b2" /><Relationship Type="http://schemas.openxmlformats.org/officeDocument/2006/relationships/tableStyles" Target="/ppt/tableStyles.xml" Id="R046aadcffb7e4000" /><Relationship Type="http://schemas.openxmlformats.org/officeDocument/2006/relationships/slide" Target="/ppt/slides/slide1.xml" Id="R671f56b98f974209" /><Relationship Type="http://schemas.openxmlformats.org/officeDocument/2006/relationships/slide" Target="/ppt/slides/slide2.xml" Id="Rda767b1f3d914014" /><Relationship Type="http://schemas.openxmlformats.org/officeDocument/2006/relationships/slide" Target="/ppt/slides/slide3.xml" Id="R20c702b17c5f431f" /><Relationship Type="http://schemas.openxmlformats.org/officeDocument/2006/relationships/slide" Target="/ppt/slides/slide4.xml" Id="R762864248cd0476a" /><Relationship Type="http://schemas.openxmlformats.org/officeDocument/2006/relationships/slide" Target="/ppt/slides/slide5.xml" Id="R3a2ff5ac5dd941ce" /><Relationship Type="http://schemas.openxmlformats.org/officeDocument/2006/relationships/slide" Target="/ppt/slides/slide6.xml" Id="R78a65b149e6843b2" /><Relationship Type="http://schemas.openxmlformats.org/officeDocument/2006/relationships/slide" Target="/ppt/slides/slide7.xml" Id="Rb8e158c135d04f84" /><Relationship Type="http://schemas.openxmlformats.org/officeDocument/2006/relationships/slide" Target="/ppt/slides/slide8.xml" Id="R67f4cb8ea5564ae9" /><Relationship Type="http://schemas.openxmlformats.org/officeDocument/2006/relationships/slide" Target="/ppt/slides/slide9.xml" Id="R622c3f3eba544c51" /><Relationship Type="http://schemas.openxmlformats.org/officeDocument/2006/relationships/slide" Target="/ppt/slides/slide10.xml" Id="R6c5ac98009c04412" /><Relationship Type="http://schemas.openxmlformats.org/officeDocument/2006/relationships/slide" Target="/ppt/slides/slide11.xml" Id="Rb5cf5e1c356c4ff2" /><Relationship Type="http://schemas.openxmlformats.org/officeDocument/2006/relationships/slide" Target="/ppt/slides/slide12.xml" Id="R583369ccfb36489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a3eb319092041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300986309045a1" /><Relationship Type="http://schemas.openxmlformats.org/officeDocument/2006/relationships/notesMaster" Target="/ppt/notesMasters/notesMaster1.xml" Id="R4ae889314ce446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f4c0826d614e9b" /><Relationship Type="http://schemas.openxmlformats.org/officeDocument/2006/relationships/notesMaster" Target="/ppt/notesMasters/notesMaster1.xml" Id="Rdc0d741193dd4ca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efd2eda29f4cd3" /><Relationship Type="http://schemas.openxmlformats.org/officeDocument/2006/relationships/notesMaster" Target="/ppt/notesMasters/notesMaster1.xml" Id="Rc65ae25b9ef242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e82b9002a44f81" /><Relationship Type="http://schemas.openxmlformats.org/officeDocument/2006/relationships/notesMaster" Target="/ppt/notesMasters/notesMaster1.xml" Id="R435574cf20ae4e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d6280d0a7aa495f" /><Relationship Type="http://schemas.openxmlformats.org/officeDocument/2006/relationships/notesMaster" Target="/ppt/notesMasters/notesMaster1.xml" Id="R6f46f34d5c7b46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c41f1f5e9f40d1" /><Relationship Type="http://schemas.openxmlformats.org/officeDocument/2006/relationships/notesMaster" Target="/ppt/notesMasters/notesMaster1.xml" Id="R87243e0067fc4ba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96ca65d6b944f4f" /><Relationship Type="http://schemas.openxmlformats.org/officeDocument/2006/relationships/notesMaster" Target="/ppt/notesMasters/notesMaster1.xml" Id="R43bcbaab0bc143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fb18041872148bb" /><Relationship Type="http://schemas.openxmlformats.org/officeDocument/2006/relationships/notesMaster" Target="/ppt/notesMasters/notesMaster1.xml" Id="R04d026e4e87847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668d18353794e93" /><Relationship Type="http://schemas.openxmlformats.org/officeDocument/2006/relationships/notesMaster" Target="/ppt/notesMasters/notesMaster1.xml" Id="R8aa9885fdb0d464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5d4ec85feb9418d" /><Relationship Type="http://schemas.openxmlformats.org/officeDocument/2006/relationships/notesMaster" Target="/ppt/notesMasters/notesMaster1.xml" Id="Rea55c4b585f544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834847a77054123" /><Relationship Type="http://schemas.openxmlformats.org/officeDocument/2006/relationships/notesMaster" Target="/ppt/notesMasters/notesMaster1.xml" Id="Rb1b36c50d42349e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1e79f0192084f62" /><Relationship Type="http://schemas.openxmlformats.org/officeDocument/2006/relationships/notesMaster" Target="/ppt/notesMasters/notesMaster1.xml" Id="R1a8c957b49e041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476cac5a1f4b6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37303f955344ada" /><Relationship Type="http://schemas.openxmlformats.org/officeDocument/2006/relationships/slideLayout" Target="/ppt/slideLayouts/slideLayout2.xml" Id="R90184ce97bb74c0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184ce97bb74c0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5f514749ec4065" /><Relationship Type="http://schemas.openxmlformats.org/officeDocument/2006/relationships/notesSlide" Target="/ppt/notesSlides/notesSlide1.xml" Id="R82f31dbc39e7429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a7397397704e3e" /><Relationship Type="http://schemas.openxmlformats.org/officeDocument/2006/relationships/notesSlide" Target="/ppt/notesSlides/notesSlide2.xml" Id="R268fb06af7fa45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aeac4bd2084d6b" /><Relationship Type="http://schemas.openxmlformats.org/officeDocument/2006/relationships/notesSlide" Target="/ppt/notesSlides/notesSlide3.xml" Id="R6fb68d23e98a4b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e1db7f88c64edf" /><Relationship Type="http://schemas.openxmlformats.org/officeDocument/2006/relationships/notesSlide" Target="/ppt/notesSlides/notesSlide4.xml" Id="R98ac33e2dafd4d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0c66f8a5a9497b" /><Relationship Type="http://schemas.openxmlformats.org/officeDocument/2006/relationships/notesSlide" Target="/ppt/notesSlides/notesSlide5.xml" Id="Rc60306ef14ea43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43dafd17bc4749" /><Relationship Type="http://schemas.openxmlformats.org/officeDocument/2006/relationships/notesSlide" Target="/ppt/notesSlides/notesSlide6.xml" Id="R839296f3301e4b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eec0e4c3fa4244" /><Relationship Type="http://schemas.openxmlformats.org/officeDocument/2006/relationships/notesSlide" Target="/ppt/notesSlides/notesSlide7.xml" Id="R9a91428426b141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ff451020c34e9a" /><Relationship Type="http://schemas.openxmlformats.org/officeDocument/2006/relationships/notesSlide" Target="/ppt/notesSlides/notesSlide8.xml" Id="Rdb2c10d80bb4446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b59a15b5fc4242" /><Relationship Type="http://schemas.openxmlformats.org/officeDocument/2006/relationships/notesSlide" Target="/ppt/notesSlides/notesSlide9.xml" Id="R793c7f73a7dc460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ddb1f684c145bc" /><Relationship Type="http://schemas.openxmlformats.org/officeDocument/2006/relationships/notesSlide" Target="/ppt/notesSlides/notesSlide10.xml" Id="Rcb79dd414d0e473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1d38aafb3d45c7" /><Relationship Type="http://schemas.openxmlformats.org/officeDocument/2006/relationships/notesSlide" Target="/ppt/notesSlides/notesSlide11.xml" Id="R24d32695ef1a476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1f3f52a09d4d4a" /><Relationship Type="http://schemas.openxmlformats.org/officeDocument/2006/relationships/notesSlide" Target="/ppt/notesSlides/notesSlide12.xml" Id="Recf4518555bc4d3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4E5F51-AF7A-4B1B-A29C-B1109741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04850"/>
            <a:ext cx="8648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7F3D0"/>
                </a:solidFill>
              </a:defRPr>
            </a:pPr>
            <a:r>
              <a:rPr sz="1950" b="1">
                <a:solidFill>
                  <a:srgbClr val="A7F3D0"/>
                </a:solidFill>
              </a:rPr>
              <a:t>Fino_50 (C-1)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D752D6-6CCE-418F-ACF6-DEBCE08E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95400"/>
            <a:ext cx="8648700" cy="2686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FFFFFF"/>
                </a:solidFill>
              </a:defRPr>
            </a:pPr>
            <a:r>
              <a:rPr sz="5850" b="1">
                <a:solidFill>
                  <a:srgbClr val="FFFFFF"/>
                </a:solidFill>
              </a:rPr>
              <a:t>NIFTY-50 Sectoral Performance &amp; Risk Intelligence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F0355A-DDDE-41C4-9CFA-95CB4E00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F3D0"/>
          </a:solidFill>
          <a:ln xmlns:a="http://schemas.openxmlformats.org/drawingml/2006/main" w="0">
            <a:solidFill>
              <a:srgbClr val="A7F3D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FCD33E-76B2-4FD0-B036-35119A39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72000"/>
            <a:ext cx="3924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EAF7"/>
                </a:solidFill>
              </a:defRPr>
            </a:pPr>
            <a:r>
              <a:rPr sz="2100">
                <a:solidFill>
                  <a:srgbClr val="D9EAF7"/>
                </a:solidFill>
              </a:rPr>
              <a:t>Finance / Stock Market Analytics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A63533-F2E9-44BF-9874-767FCF7D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05450"/>
            <a:ext cx="71056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EAF7"/>
                </a:solidFill>
              </a:defRPr>
            </a:pPr>
            <a:r>
              <a:rPr sz="2100">
                <a:solidFill>
                  <a:srgbClr val="D9EAF7"/>
                </a:solidFill>
              </a:rPr>
              <a:t>Python ETL, statistical analysis, and Tableau-ready decision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0B1D41-B620-4EF5-9F9A-158BCFF2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38900"/>
            <a:ext cx="7048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EAF7"/>
                </a:solidFill>
              </a:defRPr>
            </a:pPr>
            <a:r>
              <a:rPr sz="2100">
                <a:solidFill>
                  <a:srgbClr val="D9EAF7"/>
                </a:solidFill>
              </a:rPr>
              <a:t>Aryan Verma; Devaansh Kathuria; Birajit Saikia; Abhey Dua; Atharv Paharia</a:t>
            </a:r>
          </a:p>
        </p:txBody>
      </p:sp>
      <p:sp>
        <p:nvSpPr>
          <p:cNvPr id="7" name="cover-proof">
            <a:extLst xmlns:a="http://schemas.openxmlformats.org/drawingml/2006/main">
              <a:ext uri="{FF2B5EF4-FFF2-40B4-BE49-F238E27FC236}">
                <a16:creationId xmlns:a16="http://schemas.microsoft.com/office/drawing/2014/main" id="{EF0119A1-61DA-45FE-9AC2-3BAEE26D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8880" y="704850"/>
            <a:ext cx="7360920" cy="8877300"/>
          </a:xfrm>
          <a:prstGeom xmlns:a="http://schemas.openxmlformats.org/drawingml/2006/main" prst="roundRect">
            <a:avLst>
              <a:gd name="adj" fmla="val 1035"/>
            </a:avLst>
          </a:prstGeom>
          <a:noFill xmlns:a="http://schemas.openxmlformats.org/drawingml/2006/main"/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EDD9FF-AFC8-45EA-8BA2-352F7BE0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085850"/>
            <a:ext cx="6515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2A43"/>
                </a:solidFill>
              </a:defRPr>
            </a:pPr>
            <a:r>
              <a:rPr sz="2400" b="1">
                <a:solidFill>
                  <a:srgbClr val="102A43"/>
                </a:solidFill>
              </a:rPr>
              <a:t>Decision lens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DF2414-C772-4621-BF88-C9417B95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676400"/>
            <a:ext cx="65151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803D"/>
                </a:solidFill>
              </a:defRPr>
            </a:pPr>
            <a:r>
              <a:rPr sz="3150" b="1">
                <a:solidFill>
                  <a:srgbClr val="15803D"/>
                </a:solidFill>
              </a:rPr>
              <a:t>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3AA6CD-4D04-421D-81E4-30A62D5A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381250"/>
            <a:ext cx="65151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B42318"/>
                </a:solidFill>
              </a:defRPr>
            </a:pPr>
            <a:r>
              <a:rPr sz="3150" b="1">
                <a:solidFill>
                  <a:srgbClr val="B42318"/>
                </a:solidFill>
              </a:rPr>
              <a:t>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CD9CCA-C3B8-495E-B665-3DFF9171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105150"/>
            <a:ext cx="65151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F766E"/>
                </a:solidFill>
              </a:defRPr>
            </a:pPr>
            <a:r>
              <a:rPr sz="3150" b="1">
                <a:solidFill>
                  <a:srgbClr val="0F766E"/>
                </a:solidFill>
              </a:rPr>
              <a:t>Liquidity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4968A-299A-4952-8ABC-145066C1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810000"/>
            <a:ext cx="65151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B7791F"/>
                </a:solidFill>
              </a:defRPr>
            </a:pPr>
            <a:r>
              <a:rPr sz="3150" b="1">
                <a:solidFill>
                  <a:srgbClr val="B7791F"/>
                </a:solidFill>
              </a:rPr>
              <a:t>Recommendation</a:t>
            </a:r>
          </a:p>
        </p:txBody>
      </p:sp>
    </p:spTree>
    <p:extLst>
      <p:ext uri="{BB962C8B-B14F-4D97-AF65-F5344CB8AC3E}">
        <p14:creationId xmlns:p14="http://schemas.microsoft.com/office/powerpoint/2010/main" val="14866010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826BEA-D38B-40E4-9A15-53050504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Problem Statement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6E919F-F0AE-4ADB-ADA3-3B707EE2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D607FF-66AF-48DB-A0D7-9E209A5E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04D698-C4F2-42C2-8AEF-EE0D74A6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478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Raw market records are not decision-ready for stock and sector screening.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0ECB49-91B7-43D4-9BB7-52A1C619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174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9B236F-B058-4473-A757-D471B790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670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Investors need return, volatility, liquidity, delivery strength, and downside risk in one workflow.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96EF89-E8C9-44AC-8749-746413D9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9A8B4E-1B9A-49B1-99ED-58804A8F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861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The project identifies stocks and sectors with the strongest opportunity-risk balance.</a:t>
            </a:r>
          </a:p>
        </p:txBody>
      </p:sp>
    </p:spTree>
    <p:extLst>
      <p:ext uri="{BB962C8B-B14F-4D97-AF65-F5344CB8AC3E}">
        <p14:creationId xmlns:p14="http://schemas.microsoft.com/office/powerpoint/2010/main" val="126685289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CB9803B-2ECB-4C35-A562-DEE8EF61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Dataset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C41DBC-2A39-4C8A-A32D-EC87E452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6C432-5123-4D07-8C4C-008F8160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792480"/>
          </a:xfrm>
          <a:prstGeom xmlns:a="http://schemas.openxmlformats.org/drawingml/2006/main" prst="roundRect">
            <a:avLst>
              <a:gd name="adj" fmla="val 9615"/>
            </a:avLst>
          </a:prstGeom>
          <a:noFill xmlns:a="http://schemas.openxmlformats.org/drawingml/2006/main"/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A18769-7E08-4681-851A-727ED550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6383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F766E"/>
                </a:solidFill>
              </a:defRPr>
            </a:pPr>
            <a:r>
              <a:rPr sz="2700" b="1">
                <a:solidFill>
                  <a:srgbClr val="0F766E"/>
                </a:solidFill>
              </a:rPr>
              <a:t>235,192 cleaned rows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D2E67E-3F7F-4630-9A2F-2DA5D50B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271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A27D1E-1A85-4382-85A0-651FBB24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Primary source: Kaggle NIFTY-50 Stock Market Data (2000-2021).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D0B40B-0F6B-4ED6-970A-DC9392CC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567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49ECF-DE2B-4A03-B2CA-52C2112D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195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Coverage: 2000-01-03 to 2021-04-30.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08BA06-F3BB-4CEB-968B-CD6DFEBE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7863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9CC928-E139-4192-99DC-A76F23FB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577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Stable stock keys: 49; historical row-level symbols: 65; sectors: 13.</a:t>
            </a:r>
          </a:p>
        </p:txBody>
      </p:sp>
    </p:spTree>
    <p:extLst>
      <p:ext uri="{BB962C8B-B14F-4D97-AF65-F5344CB8AC3E}">
        <p14:creationId xmlns:p14="http://schemas.microsoft.com/office/powerpoint/2010/main" val="60883620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A03A65-7FA0-4BEC-A42F-19A010C8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ETL And Cleaning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8C1FC8-266B-48B8-B695-32713E90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7B9FC-ED43-4311-9367-7D8ACE41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E0F2BB-F3C5-4D44-AAE4-E2E55B89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478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Per-stock files are preferred over the combined file to avoid double counting.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C10D7D-F58D-4E45-9260-ED8CB959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174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6E233A-3150-4B7F-8B24-DD317AAD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670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Column names are standardized, metadata is attached, and turnover is rescaled by 100000.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AC8E1A-BA83-4F92-81FF-DA6AEEB4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5F5A27-3F68-4495-807B-6B49FAEC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861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Missing values and outliers remain visible through quality flags instead of silent deletion.</a:t>
            </a:r>
          </a:p>
        </p:txBody>
      </p:sp>
    </p:spTree>
    <p:extLst>
      <p:ext uri="{BB962C8B-B14F-4D97-AF65-F5344CB8AC3E}">
        <p14:creationId xmlns:p14="http://schemas.microsoft.com/office/powerpoint/2010/main" val="11717937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B68DC8B-FBA8-4406-B036-D2D03C41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KPI Framework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2C1FA5-440F-44E5-9773-036BD87E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BA0645-51DB-4E8F-A06D-F62AA6FC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CEBB6E-656E-45E5-BC89-B9E1F19E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478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Return: cumulative return, annualized return, average daily return.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ADB39-A9EE-45B9-9AD9-CA34C2E5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174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0C027-BC10-46B6-9923-1E6A739E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670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Risk: volatility, max drawdown, historical VaR/CVaR, risk-adjusted return.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EB35D9-3F70-48AE-BC63-A4CB0726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A45487-9A5C-49E2-8B87-9C270241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861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Decision scoring: liquidity score, investor confidence score, opportunity score.</a:t>
            </a:r>
          </a:p>
        </p:txBody>
      </p:sp>
    </p:spTree>
    <p:extLst>
      <p:ext uri="{BB962C8B-B14F-4D97-AF65-F5344CB8AC3E}">
        <p14:creationId xmlns:p14="http://schemas.microsoft.com/office/powerpoint/2010/main" val="48091647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32C097-0039-467B-8D9A-E01A8761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EDA Insights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4A2068-1D4A-4D14-89D0-13E2CFDF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26A06-967A-4EF8-A2B6-040274B0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792480"/>
          </a:xfrm>
          <a:prstGeom xmlns:a="http://schemas.openxmlformats.org/drawingml/2006/main" prst="roundRect">
            <a:avLst>
              <a:gd name="adj" fmla="val 9615"/>
            </a:avLst>
          </a:prstGeom>
          <a:noFill xmlns:a="http://schemas.openxmlformats.org/drawingml/2006/main"/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260A79-5EA2-4A13-BFC5-443D46CB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6383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F766E"/>
                </a:solidFill>
              </a:defRPr>
            </a:pPr>
            <a:r>
              <a:rPr sz="2700" b="1">
                <a:solidFill>
                  <a:srgbClr val="0F766E"/>
                </a:solidFill>
              </a:rPr>
              <a:t>2003: +50.54% | 2008: -41.59%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079F9F-DB52-494A-99B5-DECA0911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271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192102-39FE-491D-96BF-6A36F193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2003 was the strongest year at 50.54% equal-weighted cumulative return.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3B94BA-B76F-41B1-8110-3CFA597E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567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DBCDBB-92B7-44EE-A5F5-41570936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195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2008 was the deepest yearly drawdown at -41.59%.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6212B4-6844-492E-AEF9-9778CFDD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7863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E803F3-6876-4279-A133-077EC849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577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The 2020 COVID crash was sharp, followed by a strong recovery phase.</a:t>
            </a:r>
          </a:p>
        </p:txBody>
      </p:sp>
    </p:spTree>
    <p:extLst>
      <p:ext uri="{BB962C8B-B14F-4D97-AF65-F5344CB8AC3E}">
        <p14:creationId xmlns:p14="http://schemas.microsoft.com/office/powerpoint/2010/main" val="34908021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CB005A-5AD0-49C4-80C2-46677613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Statistical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6043AB-A726-4E71-BD6F-CEF8E80C7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253070-9B36-4139-97E7-DE401B0A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792480"/>
          </a:xfrm>
          <a:prstGeom xmlns:a="http://schemas.openxmlformats.org/drawingml/2006/main" prst="roundRect">
            <a:avLst>
              <a:gd name="adj" fmla="val 9615"/>
            </a:avLst>
          </a:prstGeom>
          <a:noFill xmlns:a="http://schemas.openxmlformats.org/drawingml/2006/main"/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79A731-39E6-42C4-942A-1F7AC1EB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6383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F766E"/>
                </a:solidFill>
              </a:defRPr>
            </a:pPr>
            <a:r>
              <a:rPr sz="2700" b="1">
                <a:solidFill>
                  <a:srgbClr val="0F766E"/>
                </a:solidFill>
              </a:rPr>
              <a:t>Sector test p-value: 0.0379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EA95D4-22A7-458E-BCEA-BDF6682A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271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B18AEE-B53E-414A-A9D7-21A15F54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Delivery intensity did not significantly change stock-level average returns.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F594A1-F15E-4B7E-B12F-2FD06108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567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5748B2-91CD-4C46-91D9-ADF9B1CB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195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Sector return distributions were statistically different at the 5% level.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C3F8DB-713C-4DD9-A31E-251A6441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7863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2D03C3-88C8-48E6-BCAA-68CBC929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577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Rule-based segmentation was preferred because it is explainable and defensible.</a:t>
            </a:r>
          </a:p>
        </p:txBody>
      </p:sp>
    </p:spTree>
    <p:extLst>
      <p:ext uri="{BB962C8B-B14F-4D97-AF65-F5344CB8AC3E}">
        <p14:creationId xmlns:p14="http://schemas.microsoft.com/office/powerpoint/2010/main" val="26317339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B7F99E-1679-42C0-9AA6-0C16D304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Tableau Dashboard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437C1B-EB67-4613-9EBC-24EDC2E0B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4E81EC-44BE-491D-817D-A2AD09D9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792480"/>
          </a:xfrm>
          <a:prstGeom xmlns:a="http://schemas.openxmlformats.org/drawingml/2006/main" prst="roundRect">
            <a:avLst>
              <a:gd name="adj" fmla="val 9615"/>
            </a:avLst>
          </a:prstGeom>
          <a:noFill xmlns:a="http://schemas.openxmlformats.org/drawingml/2006/main"/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DF5E52-3E42-4765-918D-2F99837C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6383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F766E"/>
                </a:solidFill>
              </a:defRPr>
            </a:pPr>
            <a:r>
              <a:rPr sz="2700" b="1">
                <a:solidFill>
                  <a:srgbClr val="0F766E"/>
                </a:solidFill>
              </a:rPr>
              <a:t>5 Tableau-ready CSVs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752641-08AF-4B82-9C4A-AB5F3917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271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99451E-5A76-4CFD-880F-A6B6CCEE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Executive KPI cards, market trends, sector comparison, stock opportunity, COVID recovery, and recommendations.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47EF75-093E-4012-BD48-6AA7B54F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567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E83067-2421-4C6B-84A3-04831F4B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195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Required filters: year, sector, stock symbol, risk bucket, segment, date range.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15B61A-B6CF-4485-9A5A-D544248B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7863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20FD07-399E-4388-B427-03939C61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577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Workbook build and .twbx export remain the final manual Tableau step.</a:t>
            </a:r>
          </a:p>
        </p:txBody>
      </p:sp>
    </p:spTree>
    <p:extLst>
      <p:ext uri="{BB962C8B-B14F-4D97-AF65-F5344CB8AC3E}">
        <p14:creationId xmlns:p14="http://schemas.microsoft.com/office/powerpoint/2010/main" val="111683781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773814-D405-4477-8A68-B137C71FD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Key Recommendations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10E424-D7B0-470D-AE2C-E622FAF2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03B2DF-8E26-4006-A0A0-F7DEB3B9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E8C590-B12C-4411-908A-18120885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478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Use Buy names as the core long-horizon shortlist.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0FCC86-94B7-459C-9E66-6FE16899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174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AB7CCD-3178-497F-A2D1-BA208724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670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Use Trade Candidate names tactically with explicit risk controls.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C0F41D-B973-4009-808F-62CBB4B95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CAEF7D-39CB-40ED-835A-40E46E45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861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Keep Watch names visible when the market trend signal weakens.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D8DA3B-A578-40E6-9D38-63977487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3766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DCC02E-44E8-4C08-B87E-9E9F55FF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053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Deprioritize Avoid names in the default dashboard ranking.</a:t>
            </a:r>
          </a:p>
        </p:txBody>
      </p:sp>
    </p:spTree>
    <p:extLst>
      <p:ext uri="{BB962C8B-B14F-4D97-AF65-F5344CB8AC3E}">
        <p14:creationId xmlns:p14="http://schemas.microsoft.com/office/powerpoint/2010/main" val="85636505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660695F-A34A-4485-B420-10321FE2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Impact, Limitations, Future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6DED8-1637-4586-8D34-984C330B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D8842E-A36D-4F20-8B5D-4B113236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792480"/>
          </a:xfrm>
          <a:prstGeom xmlns:a="http://schemas.openxmlformats.org/drawingml/2006/main" prst="roundRect">
            <a:avLst>
              <a:gd name="adj" fmla="val 9615"/>
            </a:avLst>
          </a:prstGeom>
          <a:noFill xmlns:a="http://schemas.openxmlformats.org/drawingml/2006/main"/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336396-694E-4EAB-8C27-839DB622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6383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F766E"/>
                </a:solidFill>
              </a:defRPr>
            </a:pPr>
            <a:r>
              <a:rPr sz="2700" b="1">
                <a:solidFill>
                  <a:srgbClr val="0F766E"/>
                </a:solidFill>
              </a:rPr>
              <a:t>83.7% screening-load reduction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07BAB3-95FC-4287-BCD2-B200087C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271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8D59B8-7235-453C-9FB6-C42BBF8E7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The recommendation layer narrows 49 stocks to 8 core Buy names.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D9E5EF-45B9-4E8F-849F-FDF34BC7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567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DADF27-9FE4-4285-B9A2-50190CEA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195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Limitations include historical data, missing trading fields, and non-causal tests.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42A9B0-47AA-4D4C-A1E6-E661CF29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7863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396D6-C530-4463-B65A-3DC2A35E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577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Future scope: benchmark comparison, rolling-window validation, and valuation overlays.</a:t>
            </a:r>
          </a:p>
        </p:txBody>
      </p:sp>
    </p:spTree>
    <p:extLst>
      <p:ext uri="{BB962C8B-B14F-4D97-AF65-F5344CB8AC3E}">
        <p14:creationId xmlns:p14="http://schemas.microsoft.com/office/powerpoint/2010/main" val="63811166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C86527-B97E-4623-AD2D-FE4AC908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Contribution Matrix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5F2BA7-475C-4FF7-BF76-23C52F3A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6C95F7-E4E1-4253-BFB2-B6860E4B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8A421-1CB5-44B8-98C3-65B86E23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478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Atharv: sourcing, setup, framing.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4F0382-0A02-4D15-B86C-52B555BF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174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96B1F0-79A4-48E9-A2D4-4CD2AC29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670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Devaansh: ETL, cleaning, processed data.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4CFF98-5555-4C96-AD76-9D96CCCA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DDAA2B-622E-4286-9BEE-A7C0FF1D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861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Aryan: EDA, KPIs, chart outputs.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2EA48F-5449-4000-B1DC-6ACE2858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3766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995924-D2D1-460A-B30F-14BBE3E0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053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Abhey: statistics, risk, segmentation.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4E6555-9100-4F60-9ACA-154A65F4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6062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FF69C9-462A-49B7-B239-D0CA62029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244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Birajit: Tableau asset pack, report, deck, QA.</a:t>
            </a:r>
          </a:p>
        </p:txBody>
      </p:sp>
    </p:spTree>
    <p:extLst>
      <p:ext uri="{BB962C8B-B14F-4D97-AF65-F5344CB8AC3E}">
        <p14:creationId xmlns:p14="http://schemas.microsoft.com/office/powerpoint/2010/main" val="29495936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7364B3-B425-429B-973F-42FD67E4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168783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02A43"/>
                </a:solidFill>
              </a:defRPr>
            </a:pPr>
            <a:r>
              <a:rPr sz="4200" b="1">
                <a:solidFill>
                  <a:srgbClr val="102A43"/>
                </a:solidFill>
              </a:rPr>
              <a:t>Viva Preparation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4C877C-3868-4E76-B1C6-CA630D8C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03E32F-46EA-4FEC-913A-ACA944C1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878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46398-E853-4F6D-921F-E359A012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478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Explain the dataset choice, turnover rescaling, KPI formulas, and missing-value handling.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35262C-0624-4054-B3E1-34C6BD77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174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BFB4B8-4E16-4749-A19D-FDFC7AE7D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6700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Defend why tiny significant correlations can be economically weak.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9A472C-CC77-4DB9-B8E3-026ADBE1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16878300" cy="651510"/>
          </a:xfrm>
          <a:prstGeom xmlns:a="http://schemas.openxmlformats.org/drawingml/2006/main" prst="roundRect">
            <a:avLst>
              <a:gd name="adj" fmla="val 11696"/>
            </a:avLst>
          </a:prstGeom>
          <a:noFill xmlns:a="http://schemas.openxmlformats.org/drawingml/2006/main"/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215251-E808-4A3C-8F8C-E0E7A077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86150"/>
            <a:ext cx="1642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43B53"/>
                </a:solidFill>
              </a:defRPr>
            </a:pPr>
            <a:r>
              <a:rPr sz="2025">
                <a:solidFill>
                  <a:srgbClr val="243B53"/>
                </a:solidFill>
              </a:rPr>
              <a:t>Explain why the dashboard supports investor decisions rather than decoration.</a:t>
            </a:r>
          </a:p>
        </p:txBody>
      </p:sp>
    </p:spTree>
    <p:extLst>
      <p:ext uri="{BB962C8B-B14F-4D97-AF65-F5344CB8AC3E}">
        <p14:creationId xmlns:p14="http://schemas.microsoft.com/office/powerpoint/2010/main" val="16700778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2026-04-28T14:03:43.8880000Z</dcterms:created>
  <dcterms:modified xsi:type="dcterms:W3CDTF">2026-04-28T14:03:43.8880000Z</dcterms:modified>
</coreProperties>
</file>