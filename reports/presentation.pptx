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8fda92a484615" /><Relationship Type="http://schemas.openxmlformats.org/officeDocument/2006/relationships/extended-properties" Target="/docProps/app.xml" Id="R8f624783346f441d" /><Relationship Type="http://schemas.openxmlformats.org/officeDocument/2006/relationships/officeDocument" Target="/ppt/presentation.xml" Id="R0f5a5d50d3434f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32b1cf96344b4f"/>
  </p:sldMasterIdLst>
  <p:notesMasterIdLst>
    <p:notesMasterId xmlns:r="http://schemas.openxmlformats.org/officeDocument/2006/relationships" r:id="R6d515836bd974563"/>
  </p:notesMasterIdLst>
  <p:sldIdLst>
    <p:sldId xmlns:r="http://schemas.openxmlformats.org/officeDocument/2006/relationships" id="256" r:id="R7d0ffd8a61e94a71"/>
    <p:sldId xmlns:r="http://schemas.openxmlformats.org/officeDocument/2006/relationships" id="257" r:id="R5ae781e7916a41a3"/>
    <p:sldId xmlns:r="http://schemas.openxmlformats.org/officeDocument/2006/relationships" id="258" r:id="Rae6cfa801a7d4821"/>
    <p:sldId xmlns:r="http://schemas.openxmlformats.org/officeDocument/2006/relationships" id="259" r:id="R24e05044c13341a0"/>
    <p:sldId xmlns:r="http://schemas.openxmlformats.org/officeDocument/2006/relationships" id="260" r:id="Re22bb97ae3c6482d"/>
    <p:sldId xmlns:r="http://schemas.openxmlformats.org/officeDocument/2006/relationships" id="261" r:id="R117b2d6b2b844d1b"/>
    <p:sldId xmlns:r="http://schemas.openxmlformats.org/officeDocument/2006/relationships" id="262" r:id="Rd0b42dd2625e4825"/>
    <p:sldId xmlns:r="http://schemas.openxmlformats.org/officeDocument/2006/relationships" id="263" r:id="R0ca5f56529d240dc"/>
    <p:sldId xmlns:r="http://schemas.openxmlformats.org/officeDocument/2006/relationships" id="264" r:id="R1fbd8f0a873e47aa"/>
    <p:sldId xmlns:r="http://schemas.openxmlformats.org/officeDocument/2006/relationships" id="265" r:id="R14429a7276bd4b98"/>
    <p:sldId xmlns:r="http://schemas.openxmlformats.org/officeDocument/2006/relationships" id="266" r:id="R7abd3c4ad77b479e"/>
    <p:sldId xmlns:r="http://schemas.openxmlformats.org/officeDocument/2006/relationships" id="267" r:id="R765d04b3d26b475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2b1cf96344b4f" /><Relationship Type="http://schemas.openxmlformats.org/officeDocument/2006/relationships/theme" Target="/ppt/theme/theme1.xml" Id="R290ea3c6e1854746" /><Relationship Type="http://schemas.openxmlformats.org/officeDocument/2006/relationships/notesMaster" Target="/ppt/notesMasters/notesMaster1.xml" Id="R6d515836bd974563" /><Relationship Type="http://schemas.openxmlformats.org/officeDocument/2006/relationships/presProps" Target="/ppt/presProps.xml" Id="R308e043d4ae44d98" /><Relationship Type="http://schemas.openxmlformats.org/officeDocument/2006/relationships/viewProps" Target="/ppt/viewProps.xml" Id="R83151470d9ae4762" /><Relationship Type="http://schemas.openxmlformats.org/officeDocument/2006/relationships/tableStyles" Target="/ppt/tableStyles.xml" Id="R520e4cdcf2e5444d" /><Relationship Type="http://schemas.openxmlformats.org/officeDocument/2006/relationships/slide" Target="/ppt/slides/slide1.xml" Id="R7d0ffd8a61e94a71" /><Relationship Type="http://schemas.openxmlformats.org/officeDocument/2006/relationships/slide" Target="/ppt/slides/slide2.xml" Id="R5ae781e7916a41a3" /><Relationship Type="http://schemas.openxmlformats.org/officeDocument/2006/relationships/slide" Target="/ppt/slides/slide3.xml" Id="Rae6cfa801a7d4821" /><Relationship Type="http://schemas.openxmlformats.org/officeDocument/2006/relationships/slide" Target="/ppt/slides/slide4.xml" Id="R24e05044c13341a0" /><Relationship Type="http://schemas.openxmlformats.org/officeDocument/2006/relationships/slide" Target="/ppt/slides/slide5.xml" Id="Re22bb97ae3c6482d" /><Relationship Type="http://schemas.openxmlformats.org/officeDocument/2006/relationships/slide" Target="/ppt/slides/slide6.xml" Id="R117b2d6b2b844d1b" /><Relationship Type="http://schemas.openxmlformats.org/officeDocument/2006/relationships/slide" Target="/ppt/slides/slide7.xml" Id="Rd0b42dd2625e4825" /><Relationship Type="http://schemas.openxmlformats.org/officeDocument/2006/relationships/slide" Target="/ppt/slides/slide8.xml" Id="R0ca5f56529d240dc" /><Relationship Type="http://schemas.openxmlformats.org/officeDocument/2006/relationships/slide" Target="/ppt/slides/slide9.xml" Id="R1fbd8f0a873e47aa" /><Relationship Type="http://schemas.openxmlformats.org/officeDocument/2006/relationships/slide" Target="/ppt/slides/slide10.xml" Id="R14429a7276bd4b98" /><Relationship Type="http://schemas.openxmlformats.org/officeDocument/2006/relationships/slide" Target="/ppt/slides/slide11.xml" Id="R7abd3c4ad77b479e" /><Relationship Type="http://schemas.openxmlformats.org/officeDocument/2006/relationships/slide" Target="/ppt/slides/slide12.xml" Id="R765d04b3d26b47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7f71977c90849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b684a4a78f47df" /><Relationship Type="http://schemas.openxmlformats.org/officeDocument/2006/relationships/notesMaster" Target="/ppt/notesMasters/notesMaster1.xml" Id="Rf3b4e5d7f41c4d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2f970bd6974f74" /><Relationship Type="http://schemas.openxmlformats.org/officeDocument/2006/relationships/notesMaster" Target="/ppt/notesMasters/notesMaster1.xml" Id="R981040511e2743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a6381ac2aa4a39" /><Relationship Type="http://schemas.openxmlformats.org/officeDocument/2006/relationships/notesMaster" Target="/ppt/notesMasters/notesMaster1.xml" Id="Ra6ed2f098a1444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5750a091d944f0" /><Relationship Type="http://schemas.openxmlformats.org/officeDocument/2006/relationships/notesMaster" Target="/ppt/notesMasters/notesMaster1.xml" Id="R5494554132084d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c2f9e536a040ba" /><Relationship Type="http://schemas.openxmlformats.org/officeDocument/2006/relationships/notesMaster" Target="/ppt/notesMasters/notesMaster1.xml" Id="R8947bd7fa5ad48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655e36a2494780" /><Relationship Type="http://schemas.openxmlformats.org/officeDocument/2006/relationships/notesMaster" Target="/ppt/notesMasters/notesMaster1.xml" Id="R01a6cd92e80a40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e21e796fd04efe" /><Relationship Type="http://schemas.openxmlformats.org/officeDocument/2006/relationships/notesMaster" Target="/ppt/notesMasters/notesMaster1.xml" Id="R05f93e3c50134d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468590b40445c1" /><Relationship Type="http://schemas.openxmlformats.org/officeDocument/2006/relationships/notesMaster" Target="/ppt/notesMasters/notesMaster1.xml" Id="R8c721ddc072547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9ac8697ea44aa1" /><Relationship Type="http://schemas.openxmlformats.org/officeDocument/2006/relationships/notesMaster" Target="/ppt/notesMasters/notesMaster1.xml" Id="Ra362a275f0a64d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45249319b74295" /><Relationship Type="http://schemas.openxmlformats.org/officeDocument/2006/relationships/notesMaster" Target="/ppt/notesMasters/notesMaster1.xml" Id="R45a8dd59902348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c79aacc92f424a" /><Relationship Type="http://schemas.openxmlformats.org/officeDocument/2006/relationships/notesMaster" Target="/ppt/notesMasters/notesMaster1.xml" Id="R3d98d663cb5f4b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a4ead259844369" /><Relationship Type="http://schemas.openxmlformats.org/officeDocument/2006/relationships/notesMaster" Target="/ppt/notesMasters/notesMaster1.xml" Id="Rfafaec4ff33f4e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925d29d6f411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1edab3974ef4c7a" /><Relationship Type="http://schemas.openxmlformats.org/officeDocument/2006/relationships/slideLayout" Target="/ppt/slideLayouts/slideLayout2.xml" Id="R2bb12fa0164240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b12fa0164240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478c22db3046e6" /><Relationship Type="http://schemas.openxmlformats.org/officeDocument/2006/relationships/notesSlide" Target="/ppt/notesSlides/notesSlide1.xml" Id="R2200af96fa304e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7eed909c754646" /><Relationship Type="http://schemas.openxmlformats.org/officeDocument/2006/relationships/notesSlide" Target="/ppt/notesSlides/notesSlide2.xml" Id="Rae7b884801a746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d7c71544cc4318" /><Relationship Type="http://schemas.openxmlformats.org/officeDocument/2006/relationships/notesSlide" Target="/ppt/notesSlides/notesSlide3.xml" Id="R6f5dba6faf1244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a5ece255d340f6" /><Relationship Type="http://schemas.openxmlformats.org/officeDocument/2006/relationships/notesSlide" Target="/ppt/notesSlides/notesSlide4.xml" Id="R347627d4ace54b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b850ba23b943f8" /><Relationship Type="http://schemas.openxmlformats.org/officeDocument/2006/relationships/notesSlide" Target="/ppt/notesSlides/notesSlide5.xml" Id="Rfbba3ac1c4e042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3b837228bf4857" /><Relationship Type="http://schemas.openxmlformats.org/officeDocument/2006/relationships/notesSlide" Target="/ppt/notesSlides/notesSlide6.xml" Id="Rc1a0f57ed60e48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9fd54a7e60483d" /><Relationship Type="http://schemas.openxmlformats.org/officeDocument/2006/relationships/notesSlide" Target="/ppt/notesSlides/notesSlide7.xml" Id="R25df84c2b95a40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c66aa3ff45480f" /><Relationship Type="http://schemas.openxmlformats.org/officeDocument/2006/relationships/notesSlide" Target="/ppt/notesSlides/notesSlide8.xml" Id="R5f85e75aa3254a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245d6c07334da6" /><Relationship Type="http://schemas.openxmlformats.org/officeDocument/2006/relationships/notesSlide" Target="/ppt/notesSlides/notesSlide9.xml" Id="R6a8c1a29815d41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a6f7a28c58499b" /><Relationship Type="http://schemas.openxmlformats.org/officeDocument/2006/relationships/notesSlide" Target="/ppt/notesSlides/notesSlide10.xml" Id="Rca48a419a9814c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63d04600684e94" /><Relationship Type="http://schemas.openxmlformats.org/officeDocument/2006/relationships/notesSlide" Target="/ppt/notesSlides/notesSlide11.xml" Id="Rb3d1c24b31d14b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a1c2a11861480c" /><Relationship Type="http://schemas.openxmlformats.org/officeDocument/2006/relationships/notesSlide" Target="/ppt/notesSlides/notesSlide12.xml" Id="Raf7415ff191e43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A3825B-6051-4619-96C2-F1F63B4C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"/>
            <a:ext cx="8648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7F3D0"/>
                </a:solidFill>
              </a:defRPr>
            </a:pPr>
            <a:r>
              <a:rPr sz="1950" b="1">
                <a:solidFill>
                  <a:srgbClr val="A7F3D0"/>
                </a:solidFill>
              </a:rPr>
              <a:t>NST DVA Capstone 2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89142-812E-4144-AE73-F1AE73A1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8648700" cy="2686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</a:defRPr>
            </a:pPr>
            <a:r>
              <a:rPr sz="5850" b="1">
                <a:solidFill>
                  <a:srgbClr val="FFFFFF"/>
                </a:solidFill>
              </a:rPr>
              <a:t>NIFTY-50 Sectoral Performance &amp; Risk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FEC6D-8400-445C-9848-218BA62A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D0"/>
          </a:solidFill>
          <a:ln xmlns:a="http://schemas.openxmlformats.org/drawingml/2006/main" w="0">
            <a:solidFill>
              <a:srgbClr val="A7F3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7568E-133E-425F-97A5-F235EEA0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3924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EAF7"/>
                </a:solidFill>
              </a:defRPr>
            </a:pPr>
            <a:r>
              <a:rPr sz="2100">
                <a:solidFill>
                  <a:srgbClr val="D9EAF7"/>
                </a:solidFill>
              </a:rPr>
              <a:t>Finance / Stock Market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86465-7075-4170-85AC-48D1D399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71056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EAF7"/>
                </a:solidFill>
              </a:defRPr>
            </a:pPr>
            <a:r>
              <a:rPr sz="2100">
                <a:solidFill>
                  <a:srgbClr val="D9EAF7"/>
                </a:solidFill>
              </a:rPr>
              <a:t>Python ETL, statistical analysis, and Tableau-ready decision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6F64F-6F7F-4AD0-96DF-5490C0C7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38900"/>
            <a:ext cx="7048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EAF7"/>
                </a:solidFill>
              </a:defRPr>
            </a:pPr>
            <a:r>
              <a:rPr sz="2100">
                <a:solidFill>
                  <a:srgbClr val="D9EAF7"/>
                </a:solidFill>
              </a:rPr>
              <a:t>Aryan Verma; Devaansh Kathuria; Birajit Saikia; Abhey Dua; Atharv Paharia</a:t>
            </a:r>
          </a:p>
        </p:txBody>
      </p:sp>
      <p:sp>
        <p:nvSpPr>
          <p:cNvPr id="7" name="cover-proof">
            <a:extLst xmlns:a="http://schemas.openxmlformats.org/drawingml/2006/main">
              <a:ext uri="{FF2B5EF4-FFF2-40B4-BE49-F238E27FC236}">
                <a16:creationId xmlns:a16="http://schemas.microsoft.com/office/drawing/2014/main" id="{081D85D3-3D63-4974-A3D5-AD291B95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8880" y="704850"/>
            <a:ext cx="7360920" cy="8877300"/>
          </a:xfrm>
          <a:prstGeom xmlns:a="http://schemas.openxmlformats.org/drawingml/2006/main" prst="roundRect">
            <a:avLst>
              <a:gd name="adj" fmla="val 1035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8223D-D132-4A64-97FB-193EBD93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085850"/>
            <a:ext cx="6515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Decision lens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0E30C-520A-4A62-B2A6-F6BCCAAE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676400"/>
            <a:ext cx="6515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803D"/>
                </a:solidFill>
              </a:defRPr>
            </a:pPr>
            <a:r>
              <a:rPr sz="3150" b="1">
                <a:solidFill>
                  <a:srgbClr val="15803D"/>
                </a:solidFill>
              </a:rPr>
              <a:t>Return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755E9-5FC1-47BD-A19F-A4D1A491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81250"/>
            <a:ext cx="6515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42318"/>
                </a:solidFill>
              </a:defRPr>
            </a:pPr>
            <a:r>
              <a:rPr sz="3150" b="1">
                <a:solidFill>
                  <a:srgbClr val="B42318"/>
                </a:solidFill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8D817-E6CE-454F-8839-73DE6DEA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105150"/>
            <a:ext cx="6515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766E"/>
                </a:solidFill>
              </a:defRPr>
            </a:pPr>
            <a:r>
              <a:rPr sz="3150" b="1">
                <a:solidFill>
                  <a:srgbClr val="0F766E"/>
                </a:solidFill>
              </a:rPr>
              <a:t>Liquidity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0EE3F-3E49-4CA8-950C-31E37856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810000"/>
            <a:ext cx="6515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7791F"/>
                </a:solidFill>
              </a:defRPr>
            </a:pPr>
            <a:r>
              <a:rPr sz="3150" b="1">
                <a:solidFill>
                  <a:srgbClr val="B7791F"/>
                </a:solidFill>
              </a:rPr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4427967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C1AC09-E26E-4B59-87FD-EA6A645E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6878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1D22F-B411-419B-B834-F58A94A2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5E2CD-769C-477B-96A4-F56ECD28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878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50242-6564-4F3E-AACE-081E52B5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Raw market records are not decision-ready for stock and sector screening.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C3ACB-C97A-4E46-90E0-80F8863E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174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F0B30-1999-4FD3-960D-76B5FF6E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Investors need return, volatility, liquidity, delivery strength, and downside risk in one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C2800-7D69-4F1A-97A6-CB092A27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A2CB7-F75F-4695-ABF9-1C48AD11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The project identifies stocks and sectors with the strongest opportunity-risk balance.</a:t>
            </a:r>
          </a:p>
        </p:txBody>
      </p:sp>
    </p:spTree>
    <p:extLst>
      <p:ext uri="{BB962C8B-B14F-4D97-AF65-F5344CB8AC3E}">
        <p14:creationId xmlns:p14="http://schemas.microsoft.com/office/powerpoint/2010/main" val="13490106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BBD7E3-002E-4573-A70D-7F2A2FBD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6878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Dataset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73DCD-20BE-46CF-8E00-2D4A351F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197CF-9E25-43DE-A56C-58CB102A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8780"/>
            <a:ext cx="16878300" cy="792480"/>
          </a:xfrm>
          <a:prstGeom xmlns:a="http://schemas.openxmlformats.org/drawingml/2006/main" prst="roundRect">
            <a:avLst>
              <a:gd name="adj" fmla="val 9615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9F93A-61B4-4214-89EB-8473E522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638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235,192 cleaned 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F4F31-2F6A-4DBB-B20D-7CF9A406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271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AB20A-D043-4C92-9F05-4159FA51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Primary source: Kaggle NIFTY-50 Stock Market Data (2000-2021).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2A87F-687B-46BD-8805-26FB9B8C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5567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13F36-4D03-4985-A250-9917500D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Coverage: 2000-01-03 to 2021-04-30.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EF84E-31F2-424F-8C56-295E0534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863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9B681-B768-441A-8910-2BD5E6E3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Stable stock keys: 49; historical row-level symbols: 65; sectors: 13.</a:t>
            </a:r>
          </a:p>
        </p:txBody>
      </p:sp>
    </p:spTree>
    <p:extLst>
      <p:ext uri="{BB962C8B-B14F-4D97-AF65-F5344CB8AC3E}">
        <p14:creationId xmlns:p14="http://schemas.microsoft.com/office/powerpoint/2010/main" val="7426256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DD3FB9-E7E2-4065-AC49-3AB8DC81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6878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ETL And Cleaning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F3C9C-B6EB-4589-A054-1C766B9D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CA51A-7CC2-4551-A75C-30A3A861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878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C2A71-9ADE-43FB-BEEA-E5BF2DEE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Per-stock files are preferred over the combined file to avoid double counting.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8D0F0-DC0F-4E89-8EA2-BC3F2D58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174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5EF54-8140-480B-9401-DDC6406C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Column names are standardized, metadata is attached, and turnover is rescaled by 100000.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15B70-E379-4BE0-B9DC-8372AF18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D0A4D-E0E7-4BA4-BB19-E0859E21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Missing values and outliers remain visible through quality flags instead of silent deletion.</a:t>
            </a:r>
          </a:p>
        </p:txBody>
      </p:sp>
    </p:spTree>
    <p:extLst>
      <p:ext uri="{BB962C8B-B14F-4D97-AF65-F5344CB8AC3E}">
        <p14:creationId xmlns:p14="http://schemas.microsoft.com/office/powerpoint/2010/main" val="18875440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90F7FB-15E7-40E2-B222-D67B788F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6878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KPI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6ECE7-8F8C-433D-A9CF-0911DC26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F5A46-C4F9-4198-9094-E0FD0E2D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878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642FA-7625-4A37-ABE3-87C530AB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Return: cumulative return, annualized return, average daily return.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90C18-DB79-494B-AA00-36219C39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174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C8D9A-B560-4D8F-824B-9322AA68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Risk: volatility, max drawdown, historical VaR/CVaR, risk-adjusted return.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C500D-5A67-4AEE-8939-FD1FADE2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AC5BC-A9CE-4988-B0EE-F71908A9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Decision scoring: liquidity score, investor confidence score, opportunity score.</a:t>
            </a:r>
          </a:p>
        </p:txBody>
      </p:sp>
    </p:spTree>
    <p:extLst>
      <p:ext uri="{BB962C8B-B14F-4D97-AF65-F5344CB8AC3E}">
        <p14:creationId xmlns:p14="http://schemas.microsoft.com/office/powerpoint/2010/main" val="1231295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282061-1AD3-457C-85F5-E4057F46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6878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EDA Insights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9AB81-F86B-432B-948F-E46A1277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500AF-C06F-47DC-8B0A-9CCE3B59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8780"/>
            <a:ext cx="16878300" cy="792480"/>
          </a:xfrm>
          <a:prstGeom xmlns:a="http://schemas.openxmlformats.org/drawingml/2006/main" prst="roundRect">
            <a:avLst>
              <a:gd name="adj" fmla="val 9615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3F504-3534-46C3-AE9A-828C212D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638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2003: +50.54% | 2008: -41.59%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37B4B-773C-4BF5-8369-EAD8193D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271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5CD0A-C6B7-403A-ABFF-B1D5D072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2003 was the strongest year at 50.54% equal-weighted cumulative return.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1623A-43CA-43D2-9048-33AA5652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5567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537B3-643D-4195-86CB-E29A91C0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2008 was the deepest yearly drawdown at -41.59%.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CA1DF-653C-4BC9-93C2-ACECE2F0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863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94858-1FE2-4576-A734-B8306FEF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The 2020 COVID crash was sharp, followed by a strong recovery phase.</a:t>
            </a:r>
          </a:p>
        </p:txBody>
      </p:sp>
    </p:spTree>
    <p:extLst>
      <p:ext uri="{BB962C8B-B14F-4D97-AF65-F5344CB8AC3E}">
        <p14:creationId xmlns:p14="http://schemas.microsoft.com/office/powerpoint/2010/main" val="8989502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017D41-24B0-46D7-A517-98158C73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6878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Statistical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CA3C1-4080-43C7-BC9D-131855CE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C48B5-AC4E-4D37-BEB3-EF12BA84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8780"/>
            <a:ext cx="16878300" cy="792480"/>
          </a:xfrm>
          <a:prstGeom xmlns:a="http://schemas.openxmlformats.org/drawingml/2006/main" prst="roundRect">
            <a:avLst>
              <a:gd name="adj" fmla="val 9615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CCD43-88DD-4BFE-B204-50BCD13F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638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Sector test p-value: 0.0379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28FE8-41D9-49D0-BA60-EAB215C1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271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BA261-CA75-49F5-9067-8096B006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Delivery intensity did not significantly change stock-level average returns.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EF122-5574-4248-A9B2-152151FE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5567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959D0-04CF-46F4-8479-A4013D42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Sector return distributions were statistically different at the 5% level.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016D7-9D5D-4106-A9E3-1E89097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863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AD20F-5CB5-452C-A5AE-3AA6E105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Rule-based segmentation was preferred because it is explainable and defensible.</a:t>
            </a:r>
          </a:p>
        </p:txBody>
      </p:sp>
    </p:spTree>
    <p:extLst>
      <p:ext uri="{BB962C8B-B14F-4D97-AF65-F5344CB8AC3E}">
        <p14:creationId xmlns:p14="http://schemas.microsoft.com/office/powerpoint/2010/main" val="2531636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193846-6334-4920-8A4D-F957A517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6878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Tableau Dashboard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2C1AC-D75A-4EAB-A619-9548863A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D4489-1AE8-4C22-8374-51D52EA2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8780"/>
            <a:ext cx="16878300" cy="792480"/>
          </a:xfrm>
          <a:prstGeom xmlns:a="http://schemas.openxmlformats.org/drawingml/2006/main" prst="roundRect">
            <a:avLst>
              <a:gd name="adj" fmla="val 9615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A43AD-C168-404F-83C3-DD3E7A59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638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5 Tableau-ready CSVs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09DEF-1C76-49E1-8304-7C97CE5E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271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4D603-2E59-4F21-9151-D1C25682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Executive KPI cards, market trends, sector comparison, stock opportunity, COVID recovery, and recommendations.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DFD92-9575-4BB4-BD84-D2D25AA0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5567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58948-D2CD-4594-8951-C0BD12F0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Required filters: year, sector, stock symbol, risk bucket, segment, date range.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52FCB-EC69-4570-934C-641860AD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863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4840B-71B1-4242-B5C7-6683DEC1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Workbook build and .twbx export remain the final manual Tableau step.</a:t>
            </a:r>
          </a:p>
        </p:txBody>
      </p:sp>
    </p:spTree>
    <p:extLst>
      <p:ext uri="{BB962C8B-B14F-4D97-AF65-F5344CB8AC3E}">
        <p14:creationId xmlns:p14="http://schemas.microsoft.com/office/powerpoint/2010/main" val="7508234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97858E-4F65-43CF-81AF-7F9D2B61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6878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Key 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C212C-27AD-4A88-BAE7-EA5D5640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3BE41-3819-4A84-9C45-743D773C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878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15B25-911F-4493-B40A-9270C128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Use Buy names as the core long-horizon shortlist.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8B7F1-9AD9-4490-A60C-5FAFF9FB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174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903D3-36DA-4CC5-A9EB-C36F2C80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Use Trade Candidate names tactically with explicit risk controls.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8B108-3CCA-4CE1-9A26-7529589F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0E71F-3B6F-4234-B2B2-33DF981D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Keep Watch names visible when the market trend signal weakens.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84E3C-116A-4D4A-9223-2F2EAE6C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766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0B1B8-4F9A-42A7-B879-73833DF3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Deprioritize Avoid names in the default dashboard ranking.</a:t>
            </a:r>
          </a:p>
        </p:txBody>
      </p:sp>
    </p:spTree>
    <p:extLst>
      <p:ext uri="{BB962C8B-B14F-4D97-AF65-F5344CB8AC3E}">
        <p14:creationId xmlns:p14="http://schemas.microsoft.com/office/powerpoint/2010/main" val="12003644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A24E06-74D9-445A-870C-3A82415D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6878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Impact, Limitations, 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7CDEB-89F4-4F2C-AFDE-E4106F09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4C5D1-A26E-4188-BD2D-2B23E96D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8780"/>
            <a:ext cx="16878300" cy="792480"/>
          </a:xfrm>
          <a:prstGeom xmlns:a="http://schemas.openxmlformats.org/drawingml/2006/main" prst="roundRect">
            <a:avLst>
              <a:gd name="adj" fmla="val 9615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7914E-D4E1-404B-BE7E-A85A1985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638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83.7% screening-load reduction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217BA-28B2-4F3C-841C-73165C31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271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69E26-16CC-4320-A2A6-A91A834F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The recommendation layer narrows 49 stocks to 8 core Buy names.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D1FE1-8AA4-420D-9073-02A844D9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5567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B79C0-A2CD-4889-B90D-B73AF6B3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Limitations include historical data, missing trading fields, and non-causal tests.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B2898-5D00-44D8-80A4-79876A07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863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E41E1-9C7B-470E-91A3-A496DD8A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Future scope: benchmark comparison, rolling-window validation, and valuation overlays.</a:t>
            </a:r>
          </a:p>
        </p:txBody>
      </p:sp>
    </p:spTree>
    <p:extLst>
      <p:ext uri="{BB962C8B-B14F-4D97-AF65-F5344CB8AC3E}">
        <p14:creationId xmlns:p14="http://schemas.microsoft.com/office/powerpoint/2010/main" val="20681200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FCED96-68C6-4F80-97C7-DB831AD0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6878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Contribution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C8D8B-B6DD-46B9-B0E7-E9C11D2C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0093B-B4EF-4D86-AF7F-EA6CF5D9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878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C07C5-8D49-4757-B656-A813638A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Atharv: sourcing, setup, framing.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5807A-26F7-4A32-A04C-0DC8DF32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174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758DF-EEA5-49D2-82C5-64323017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Devaansh: ETL, cleaning, processed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F9C3B-9947-4B70-92E6-34E789D4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D4AC9-97E7-454B-B071-C65AFFCC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Aryan: EDA, KPIs, chart outputs.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05717-CCA8-458A-9921-64F7C623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766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897D4-F416-4AA1-83FA-097AE6B5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Abhey: statistics, risk, segmentation.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68815-9849-416F-86FA-8E9C7573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062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B5105-021B-432E-8831-DC09388F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Birajit: Tableau asset pack, report, deck, QA.</a:t>
            </a:r>
          </a:p>
        </p:txBody>
      </p:sp>
    </p:spTree>
    <p:extLst>
      <p:ext uri="{BB962C8B-B14F-4D97-AF65-F5344CB8AC3E}">
        <p14:creationId xmlns:p14="http://schemas.microsoft.com/office/powerpoint/2010/main" val="2527880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CEF1D6-9F69-4120-97EB-4D90A6EB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6878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Viva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731AE-0922-418A-946D-F2799D4E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6C3B5-3580-4E66-8DE9-A74E5EE3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878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E4240-0FF3-438B-AF0B-703FA6D7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Explain the dataset choice, turnover rescaling, KPI formulas, and missing-value handling.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C8F1C-B158-4FC8-BCF7-1DBB5B5F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174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DA790-5477-4849-8A1C-7468E985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Defend why tiny significant correlations can be economically weak.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CC968-68CF-4E86-879A-6F1A8D87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16878300" cy="651510"/>
          </a:xfrm>
          <a:prstGeom xmlns:a="http://schemas.openxmlformats.org/drawingml/2006/main" prst="roundRect">
            <a:avLst>
              <a:gd name="adj" fmla="val 11696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6D93A-1F0D-472D-802C-BCB24452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64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B53"/>
                </a:solidFill>
              </a:defRPr>
            </a:pPr>
            <a:r>
              <a:rPr sz="2025">
                <a:solidFill>
                  <a:srgbClr val="243B53"/>
                </a:solidFill>
              </a:rPr>
              <a:t>Explain why the dashboard supports investor decisions rather than decoration.</a:t>
            </a:r>
          </a:p>
        </p:txBody>
      </p:sp>
    </p:spTree>
    <p:extLst>
      <p:ext uri="{BB962C8B-B14F-4D97-AF65-F5344CB8AC3E}">
        <p14:creationId xmlns:p14="http://schemas.microsoft.com/office/powerpoint/2010/main" val="449751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2026-04-28T13:43:02.8270000Z</dcterms:created>
  <dcterms:modified xsi:type="dcterms:W3CDTF">2026-04-28T13:43:02.8270000Z</dcterms:modified>
</coreProperties>
</file>